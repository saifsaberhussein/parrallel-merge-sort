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15298-FCE8-4AB5-98DD-4A60AE23392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58285-FB11-4435-A5BF-94CE6233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7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43A76A3-ADC8-4477-8FC1-B9DD55D84908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43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7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CD0C193-4974-4A1F-9C63-07D595E30D66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9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6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3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3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159839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0894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54762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23846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50901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14289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7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5880548-5C08-4BE3-B63E-F2BB63B0B00C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2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12/13/2025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95727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CA5A-7E21-0ECC-6E38-83A9033A1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Parallel merge sort (fork/join)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6A59E-024A-3FC1-0AAD-6EB57C661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602038"/>
            <a:ext cx="7063739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Seif saber, Omar Ahmed, Kareem Mansour, Mostafa Rady, Omar Amir, Youssef El </a:t>
            </a:r>
            <a:r>
              <a:rPr lang="en-US" dirty="0" err="1">
                <a:solidFill>
                  <a:srgbClr val="FFFFFF"/>
                </a:solidFill>
              </a:rPr>
              <a:t>Bedewy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30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6AC0-9B38-3A17-4EC8-8DD28544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5B63D-265A-CABF-B89D-A08F52CE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covering a small brief explaining each sorting algorithm used and design with performance comparison.</a:t>
            </a:r>
          </a:p>
          <a:p>
            <a:pPr marL="0" indent="0">
              <a:buNone/>
            </a:pPr>
            <a:r>
              <a:rPr lang="en-US" dirty="0"/>
              <a:t>Points to be covered</a:t>
            </a:r>
          </a:p>
          <a:p>
            <a:r>
              <a:rPr lang="en-US" dirty="0"/>
              <a:t>Sequential merge sort algorithm</a:t>
            </a:r>
          </a:p>
          <a:p>
            <a:r>
              <a:rPr lang="en-US" dirty="0"/>
              <a:t>Parallel merge sort algorithm</a:t>
            </a:r>
          </a:p>
          <a:p>
            <a:r>
              <a:rPr lang="en-US" dirty="0"/>
              <a:t>Benchmarking to compare results including </a:t>
            </a:r>
            <a:r>
              <a:rPr lang="en-US" dirty="0" err="1"/>
              <a:t>arrays.sort</a:t>
            </a:r>
            <a:r>
              <a:rPr lang="en-US" dirty="0"/>
              <a:t> function</a:t>
            </a:r>
          </a:p>
          <a:p>
            <a:r>
              <a:rPr lang="en-US" dirty="0"/>
              <a:t>Project design</a:t>
            </a:r>
          </a:p>
          <a:p>
            <a:r>
              <a:rPr lang="en-US" dirty="0"/>
              <a:t>Performance result comparison with comparator counters and without comparator counter</a:t>
            </a:r>
          </a:p>
        </p:txBody>
      </p:sp>
    </p:spTree>
    <p:extLst>
      <p:ext uri="{BB962C8B-B14F-4D97-AF65-F5344CB8AC3E}">
        <p14:creationId xmlns:p14="http://schemas.microsoft.com/office/powerpoint/2010/main" val="269379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66A6-D00B-9E87-D70F-EC15F9F7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Sequential 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428C3-1252-D362-8A2F-6A86374D9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follows the classic divide and conquer </a:t>
            </a:r>
          </a:p>
          <a:p>
            <a:r>
              <a:rPr lang="en-US" dirty="0"/>
              <a:t>we use the </a:t>
            </a:r>
            <a:r>
              <a:rPr lang="en-US" dirty="0" err="1"/>
              <a:t>mergeSort</a:t>
            </a:r>
            <a:r>
              <a:rPr lang="en-US" dirty="0"/>
              <a:t> method to divide the array recursively till there’s only 1 element in the array then we call the merge method</a:t>
            </a:r>
          </a:p>
          <a:p>
            <a:r>
              <a:rPr lang="en-US" dirty="0"/>
              <a:t>In the merge method we copy the divided array into 2 temporary arrays for sorting</a:t>
            </a:r>
          </a:p>
          <a:p>
            <a:r>
              <a:rPr lang="en-US" dirty="0"/>
              <a:t>We loop around the elements to put the smallest element into the first slot</a:t>
            </a:r>
          </a:p>
          <a:p>
            <a:r>
              <a:rPr lang="en-US" dirty="0"/>
              <a:t>Then we keep doing this to all the divided array till its fully sorted</a:t>
            </a:r>
          </a:p>
        </p:txBody>
      </p:sp>
    </p:spTree>
    <p:extLst>
      <p:ext uri="{BB962C8B-B14F-4D97-AF65-F5344CB8AC3E}">
        <p14:creationId xmlns:p14="http://schemas.microsoft.com/office/powerpoint/2010/main" val="152256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76F8-7DAC-FC44-1F5B-482F4222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5331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Parallel 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1B7C7-1AE5-F6B0-1B0C-06782346A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1" y="1817055"/>
            <a:ext cx="11618752" cy="4894138"/>
          </a:xfrm>
        </p:spPr>
        <p:txBody>
          <a:bodyPr>
            <a:normAutofit/>
          </a:bodyPr>
          <a:lstStyle/>
          <a:p>
            <a:r>
              <a:rPr lang="en-US" sz="2000" dirty="0"/>
              <a:t>First a variable known as threshold is added (set to 2000 or 40 for GUI)</a:t>
            </a:r>
          </a:p>
          <a:p>
            <a:r>
              <a:rPr lang="en-US" sz="2000" dirty="0"/>
              <a:t>Then an object of join fork pool is made to make threading possible then the threads are submitted using invoke to the </a:t>
            </a:r>
            <a:r>
              <a:rPr lang="en-US" sz="2000" dirty="0" err="1"/>
              <a:t>mergeSortTask</a:t>
            </a:r>
            <a:r>
              <a:rPr lang="en-US" sz="2000" dirty="0"/>
              <a:t> method to enable parallelism</a:t>
            </a:r>
          </a:p>
          <a:p>
            <a:r>
              <a:rPr lang="en-US" sz="2000" dirty="0" err="1"/>
              <a:t>mergeSortTask</a:t>
            </a:r>
            <a:r>
              <a:rPr lang="en-US" sz="2000" dirty="0"/>
              <a:t> overrides the compute abstract method so it allows merge sorting to be computed on parallel and define the task for the fork/join </a:t>
            </a:r>
          </a:p>
          <a:p>
            <a:r>
              <a:rPr lang="en-US" sz="2000" dirty="0"/>
              <a:t>The </a:t>
            </a:r>
            <a:r>
              <a:rPr lang="en-US" sz="2000" dirty="0" err="1"/>
              <a:t>mergeSortTask</a:t>
            </a:r>
            <a:r>
              <a:rPr lang="en-US" sz="2000" dirty="0"/>
              <a:t> checks if the array is less than the threshold value or not if the value is smaller than the threshold task it executes sequential sort else it works in parallel.</a:t>
            </a:r>
          </a:p>
          <a:p>
            <a:r>
              <a:rPr lang="en-US" sz="2000" dirty="0"/>
              <a:t>If the array is greater than 2000 (threshold value) the array is divided and 2 subtasks are made using an object from the same </a:t>
            </a:r>
            <a:r>
              <a:rPr lang="en-US" sz="2000" dirty="0" err="1"/>
              <a:t>mergeSortTask</a:t>
            </a:r>
            <a:r>
              <a:rPr lang="en-US" sz="2000" dirty="0"/>
              <a:t> then we call the 2 divided arrays using invoke all to allow computation in parallel. This happens recursively</a:t>
            </a:r>
          </a:p>
          <a:p>
            <a:r>
              <a:rPr lang="en-US" sz="2000" dirty="0"/>
              <a:t>Then they are merged again using the same merge method for the sequential sort.</a:t>
            </a:r>
          </a:p>
        </p:txBody>
      </p:sp>
    </p:spTree>
    <p:extLst>
      <p:ext uri="{BB962C8B-B14F-4D97-AF65-F5344CB8AC3E}">
        <p14:creationId xmlns:p14="http://schemas.microsoft.com/office/powerpoint/2010/main" val="133445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F071-DEF6-36E5-40A7-8B922489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45E8-6EAF-2C74-716A-1E1DCF0E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Benchmarking is the process where you run tests to measure how efficient the algorithm is and to compare it if needed with other algorithms</a:t>
            </a:r>
          </a:p>
          <a:p>
            <a:r>
              <a:rPr lang="en-US" dirty="0"/>
              <a:t>Our benchmarking creates 3 arrays that are sorted, reverse sorted, randomly sorted</a:t>
            </a:r>
          </a:p>
          <a:p>
            <a:r>
              <a:rPr lang="en-US" dirty="0"/>
              <a:t>It uses the random class to generate random numbers for the random sorted array</a:t>
            </a:r>
          </a:p>
          <a:p>
            <a:r>
              <a:rPr lang="en-US" dirty="0"/>
              <a:t>The sizes are 10k 100k and 1million that were used in the project</a:t>
            </a:r>
          </a:p>
          <a:p>
            <a:r>
              <a:rPr lang="en-US" dirty="0"/>
              <a:t>We implemented a comparator to count how many comparisons happened in each sorting algorithm on different array sizes</a:t>
            </a:r>
          </a:p>
          <a:p>
            <a:r>
              <a:rPr lang="en-US" dirty="0"/>
              <a:t>Results are to be shown later in the slides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9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2070-E80A-9F10-3AB3-1609DD96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03475-E538-CB8F-C7E7-948C8A72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design has the 3 major classes: merge sort, parallel merge sort, and benchmarking</a:t>
            </a:r>
          </a:p>
          <a:p>
            <a:r>
              <a:rPr lang="en-US" dirty="0"/>
              <a:t>Theres a 4</a:t>
            </a:r>
            <a:r>
              <a:rPr lang="en-US" baseline="30000" dirty="0"/>
              <a:t>th</a:t>
            </a:r>
            <a:r>
              <a:rPr lang="en-US" dirty="0"/>
              <a:t> class made to help visualize the array in the </a:t>
            </a:r>
            <a:r>
              <a:rPr lang="en-US" dirty="0" err="1"/>
              <a:t>gui</a:t>
            </a:r>
            <a:endParaRPr lang="en-US" dirty="0"/>
          </a:p>
          <a:p>
            <a:r>
              <a:rPr lang="en-US" dirty="0"/>
              <a:t>A new 5</a:t>
            </a:r>
            <a:r>
              <a:rPr lang="en-US" baseline="30000" dirty="0"/>
              <a:t>th</a:t>
            </a:r>
            <a:r>
              <a:rPr lang="en-US" dirty="0"/>
              <a:t> class was added for comparison counter to make program more efficient</a:t>
            </a:r>
          </a:p>
          <a:p>
            <a:r>
              <a:rPr lang="en-US" dirty="0"/>
              <a:t>We implemented a </a:t>
            </a:r>
            <a:r>
              <a:rPr lang="en-US" dirty="0" err="1"/>
              <a:t>gui</a:t>
            </a:r>
            <a:r>
              <a:rPr lang="en-US" dirty="0"/>
              <a:t> to help users see how the sorting techniques work</a:t>
            </a:r>
          </a:p>
          <a:p>
            <a:r>
              <a:rPr lang="en-US" dirty="0"/>
              <a:t>Our parallel merge sort design uses the following: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4C9D7C-3726-BCB9-5500-7AAC9D817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98" y="4878516"/>
            <a:ext cx="81211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RecursiveAction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ForkJoinPool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threshold to avoid spawning too many threads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recursive call sorts half of the array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When bigger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Arial" panose="020B0604020202020204" pitchFamily="34" charset="0"/>
              </a:rPr>
              <a:t>we split into tasks and run in parallel”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size is smaller than the threshold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switch to regular merge sort</a:t>
            </a:r>
          </a:p>
        </p:txBody>
      </p:sp>
    </p:spTree>
    <p:extLst>
      <p:ext uri="{BB962C8B-B14F-4D97-AF65-F5344CB8AC3E}">
        <p14:creationId xmlns:p14="http://schemas.microsoft.com/office/powerpoint/2010/main" val="48641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E9C-1CDB-E8BD-5C62-1360935A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dirty="0"/>
              <a:t>Performance (GUI </a:t>
            </a:r>
            <a:r>
              <a:rPr lang="en-US"/>
              <a:t>AND COMPARATORS)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A6FE-0B38-3C96-F44E-F656305C2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361" y="1988191"/>
            <a:ext cx="11416169" cy="1585519"/>
          </a:xfrm>
        </p:spPr>
        <p:txBody>
          <a:bodyPr>
            <a:normAutofit/>
          </a:bodyPr>
          <a:lstStyle/>
          <a:p>
            <a:r>
              <a:rPr lang="en-US" dirty="0"/>
              <a:t>Performance was measured on the 3 different array sizes we used (10k 100k 1million) these results are in average of multiple tests</a:t>
            </a:r>
          </a:p>
          <a:p>
            <a:r>
              <a:rPr lang="en-US" dirty="0"/>
              <a:t>Speedup= sequential sort/ parallel sort </a:t>
            </a:r>
          </a:p>
          <a:p>
            <a:r>
              <a:rPr lang="en-US" dirty="0"/>
              <a:t>This test is applied with </a:t>
            </a:r>
            <a:r>
              <a:rPr lang="en-US" dirty="0" err="1"/>
              <a:t>gui</a:t>
            </a:r>
            <a:r>
              <a:rPr lang="en-US" dirty="0"/>
              <a:t> and comparators which wasn’t in the report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AD4B29-9690-11C3-F63F-DB5288F88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17" y="3586845"/>
            <a:ext cx="2701255" cy="687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Array Size: 10,000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A511A3-F71B-C3B9-8CE6-8BD35F3BF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598915"/>
              </p:ext>
            </p:extLst>
          </p:nvPr>
        </p:nvGraphicFramePr>
        <p:xfrm>
          <a:off x="107510" y="4066568"/>
          <a:ext cx="7643919" cy="268657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528784">
                  <a:extLst>
                    <a:ext uri="{9D8B030D-6E8A-4147-A177-3AD203B41FA5}">
                      <a16:colId xmlns:a16="http://schemas.microsoft.com/office/drawing/2014/main" val="1350051352"/>
                    </a:ext>
                  </a:extLst>
                </a:gridCol>
                <a:gridCol w="1528784">
                  <a:extLst>
                    <a:ext uri="{9D8B030D-6E8A-4147-A177-3AD203B41FA5}">
                      <a16:colId xmlns:a16="http://schemas.microsoft.com/office/drawing/2014/main" val="1373603420"/>
                    </a:ext>
                  </a:extLst>
                </a:gridCol>
                <a:gridCol w="1556338">
                  <a:extLst>
                    <a:ext uri="{9D8B030D-6E8A-4147-A177-3AD203B41FA5}">
                      <a16:colId xmlns:a16="http://schemas.microsoft.com/office/drawing/2014/main" val="1058681409"/>
                    </a:ext>
                  </a:extLst>
                </a:gridCol>
                <a:gridCol w="1501229">
                  <a:extLst>
                    <a:ext uri="{9D8B030D-6E8A-4147-A177-3AD203B41FA5}">
                      <a16:colId xmlns:a16="http://schemas.microsoft.com/office/drawing/2014/main" val="2959353042"/>
                    </a:ext>
                  </a:extLst>
                </a:gridCol>
                <a:gridCol w="1528784">
                  <a:extLst>
                    <a:ext uri="{9D8B030D-6E8A-4147-A177-3AD203B41FA5}">
                      <a16:colId xmlns:a16="http://schemas.microsoft.com/office/drawing/2014/main" val="3256633961"/>
                    </a:ext>
                  </a:extLst>
                </a:gridCol>
              </a:tblGrid>
              <a:tr h="1230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Sequential (</a:t>
                      </a:r>
                      <a:r>
                        <a:rPr lang="en-US" sz="1400" dirty="0" err="1"/>
                        <a:t>ms</a:t>
                      </a:r>
                      <a:r>
                        <a:rPr lang="en-US" sz="1400" dirty="0"/>
                        <a:t> / comparisons)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Parallel (</a:t>
                      </a:r>
                      <a:r>
                        <a:rPr lang="en-US" sz="1400" dirty="0" err="1"/>
                        <a:t>ms</a:t>
                      </a:r>
                      <a:r>
                        <a:rPr lang="en-US" sz="1400" dirty="0"/>
                        <a:t> / comparisons)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Arrays.sort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ms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167957"/>
                  </a:ext>
                </a:extLst>
              </a:tr>
              <a:tr h="668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13.97 / 120,506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9.15 / 120,506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1.53×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858937"/>
                  </a:ext>
                </a:extLst>
              </a:tr>
              <a:tr h="393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2.15 / 64,608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1.49 / 64,608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1.44×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956148"/>
                  </a:ext>
                </a:extLst>
              </a:tr>
              <a:tr h="393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2.28 / 69,008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1.61 / 69,008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1.42×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393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36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9875AEA-BCCE-BE75-9A0F-5B1A190D2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35" y="846389"/>
            <a:ext cx="27766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Array Size: 100,000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E5522F-54A2-A293-E077-458F311B8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8876551"/>
              </p:ext>
            </p:extLst>
          </p:nvPr>
        </p:nvGraphicFramePr>
        <p:xfrm>
          <a:off x="148906" y="1589552"/>
          <a:ext cx="8760200" cy="399751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752040">
                  <a:extLst>
                    <a:ext uri="{9D8B030D-6E8A-4147-A177-3AD203B41FA5}">
                      <a16:colId xmlns:a16="http://schemas.microsoft.com/office/drawing/2014/main" val="3452445504"/>
                    </a:ext>
                  </a:extLst>
                </a:gridCol>
                <a:gridCol w="1752040">
                  <a:extLst>
                    <a:ext uri="{9D8B030D-6E8A-4147-A177-3AD203B41FA5}">
                      <a16:colId xmlns:a16="http://schemas.microsoft.com/office/drawing/2014/main" val="2138451646"/>
                    </a:ext>
                  </a:extLst>
                </a:gridCol>
                <a:gridCol w="1752040">
                  <a:extLst>
                    <a:ext uri="{9D8B030D-6E8A-4147-A177-3AD203B41FA5}">
                      <a16:colId xmlns:a16="http://schemas.microsoft.com/office/drawing/2014/main" val="3322354588"/>
                    </a:ext>
                  </a:extLst>
                </a:gridCol>
                <a:gridCol w="1752040">
                  <a:extLst>
                    <a:ext uri="{9D8B030D-6E8A-4147-A177-3AD203B41FA5}">
                      <a16:colId xmlns:a16="http://schemas.microsoft.com/office/drawing/2014/main" val="2686433"/>
                    </a:ext>
                  </a:extLst>
                </a:gridCol>
                <a:gridCol w="1752040">
                  <a:extLst>
                    <a:ext uri="{9D8B030D-6E8A-4147-A177-3AD203B41FA5}">
                      <a16:colId xmlns:a16="http://schemas.microsoft.com/office/drawing/2014/main" val="1415650240"/>
                    </a:ext>
                  </a:extLst>
                </a:gridCol>
              </a:tblGrid>
              <a:tr h="1068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Sequential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comps)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Parallel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comps)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Arrays.sort (ms)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916289"/>
                  </a:ext>
                </a:extLst>
              </a:tr>
              <a:tr h="976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45.42 / 1,536,194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12.27 / 1,536,194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3.70×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470021"/>
                  </a:ext>
                </a:extLst>
              </a:tr>
              <a:tr h="976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20.01 / 815,024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6.05 / 815,024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3.31×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658158"/>
                  </a:ext>
                </a:extLst>
              </a:tr>
              <a:tr h="976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19.90 / 853,904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5.48 / 853,904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3.63×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404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84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0AD1B2-15B2-5805-CF7E-BE6705305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35" y="846389"/>
            <a:ext cx="27766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Array Size: 1,000,000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3ACC76-64D3-D19A-C1B4-CAB617828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58309"/>
              </p:ext>
            </p:extLst>
          </p:nvPr>
        </p:nvGraphicFramePr>
        <p:xfrm>
          <a:off x="125921" y="1476462"/>
          <a:ext cx="11434110" cy="363243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286822">
                  <a:extLst>
                    <a:ext uri="{9D8B030D-6E8A-4147-A177-3AD203B41FA5}">
                      <a16:colId xmlns:a16="http://schemas.microsoft.com/office/drawing/2014/main" val="2464494685"/>
                    </a:ext>
                  </a:extLst>
                </a:gridCol>
                <a:gridCol w="2286822">
                  <a:extLst>
                    <a:ext uri="{9D8B030D-6E8A-4147-A177-3AD203B41FA5}">
                      <a16:colId xmlns:a16="http://schemas.microsoft.com/office/drawing/2014/main" val="1362310181"/>
                    </a:ext>
                  </a:extLst>
                </a:gridCol>
                <a:gridCol w="2286822">
                  <a:extLst>
                    <a:ext uri="{9D8B030D-6E8A-4147-A177-3AD203B41FA5}">
                      <a16:colId xmlns:a16="http://schemas.microsoft.com/office/drawing/2014/main" val="864364248"/>
                    </a:ext>
                  </a:extLst>
                </a:gridCol>
                <a:gridCol w="2286822">
                  <a:extLst>
                    <a:ext uri="{9D8B030D-6E8A-4147-A177-3AD203B41FA5}">
                      <a16:colId xmlns:a16="http://schemas.microsoft.com/office/drawing/2014/main" val="128683712"/>
                    </a:ext>
                  </a:extLst>
                </a:gridCol>
                <a:gridCol w="2286822">
                  <a:extLst>
                    <a:ext uri="{9D8B030D-6E8A-4147-A177-3AD203B41FA5}">
                      <a16:colId xmlns:a16="http://schemas.microsoft.com/office/drawing/2014/main" val="3531036860"/>
                    </a:ext>
                  </a:extLst>
                </a:gridCol>
              </a:tblGrid>
              <a:tr h="1297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Sequential MergeSort (ms / comps)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Parallel </a:t>
                      </a:r>
                      <a:r>
                        <a:rPr lang="en-US" dirty="0" err="1"/>
                        <a:t>MergeSort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 / comps)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Arrays.sort (ms)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42991"/>
                  </a:ext>
                </a:extLst>
              </a:tr>
              <a:tr h="908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459.17 / 18,673,133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118.69 / 18,673,133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3.87×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105.75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634350"/>
                  </a:ext>
                </a:extLst>
              </a:tr>
              <a:tr h="518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227.15 / 9,884,992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63.51 / 9,884,992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3.58×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910754"/>
                  </a:ext>
                </a:extLst>
              </a:tr>
              <a:tr h="908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224.21 / 10,066,432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62.47 / 10,066,432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3.59×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432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85460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131</TotalTime>
  <Words>747</Words>
  <Application>Microsoft Office PowerPoint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Century Gothic</vt:lpstr>
      <vt:lpstr>Vapor Trail</vt:lpstr>
      <vt:lpstr>Parallel merge sort (fork/join)</vt:lpstr>
      <vt:lpstr>introduction</vt:lpstr>
      <vt:lpstr>Sequential merge sort</vt:lpstr>
      <vt:lpstr>Parallel merge sort</vt:lpstr>
      <vt:lpstr>Benchmarking</vt:lpstr>
      <vt:lpstr>Design</vt:lpstr>
      <vt:lpstr>Performance (GUI AND COMPARATORS)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</dc:creator>
  <cp:lastModifiedBy>Omar</cp:lastModifiedBy>
  <cp:revision>5</cp:revision>
  <dcterms:created xsi:type="dcterms:W3CDTF">2025-12-12T11:00:44Z</dcterms:created>
  <dcterms:modified xsi:type="dcterms:W3CDTF">2025-12-13T12:45:40Z</dcterms:modified>
</cp:coreProperties>
</file>